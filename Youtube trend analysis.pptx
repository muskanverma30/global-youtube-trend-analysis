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4" r:id="rId10"/>
    <p:sldId id="272" r:id="rId11"/>
    <p:sldId id="265" r:id="rId12"/>
    <p:sldId id="273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1ECEC1-4FF0-42E4-AC76-7E0FCE869903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6"/>
            <p14:sldId id="264"/>
            <p14:sldId id="272"/>
            <p14:sldId id="265"/>
            <p14:sldId id="273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4A103-A098-43FD-9C69-805C731C8FE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B96D9-3755-41FA-B6D8-4642226CD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5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B96D9-3755-41FA-B6D8-4642226CD3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93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64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A3218E-B444-36C6-A086-DDB26CD20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8249653" cy="147002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Global YouTube Trend Analysis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0D08CE9-4E40-588A-2116-6CF7AEE30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81137"/>
            <a:ext cx="6400800" cy="1752600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 Analytics Project using Python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- Muskan Verma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BBC5C-2DAF-DF84-DC80-97793F993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05" y="926431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700" b="1" dirty="0"/>
              <a:t>Tools &amp; Technologies</a:t>
            </a:r>
          </a:p>
          <a:p>
            <a:r>
              <a:rPr lang="en-IN" sz="2700" dirty="0"/>
              <a:t>Python </a:t>
            </a:r>
          </a:p>
          <a:p>
            <a:r>
              <a:rPr lang="en-IN" sz="2700" dirty="0"/>
              <a:t>Pandas </a:t>
            </a:r>
          </a:p>
          <a:p>
            <a:r>
              <a:rPr lang="en-IN" sz="2700" dirty="0"/>
              <a:t>Matplotlib </a:t>
            </a:r>
          </a:p>
          <a:p>
            <a:r>
              <a:rPr lang="en-IN" sz="2700" dirty="0"/>
              <a:t>Seaborn </a:t>
            </a:r>
          </a:p>
          <a:p>
            <a:pPr marL="0" indent="0">
              <a:buNone/>
            </a:pPr>
            <a:endParaRPr lang="en-IN" sz="2700" dirty="0"/>
          </a:p>
          <a:p>
            <a:pPr marL="0" indent="0">
              <a:buNone/>
            </a:pPr>
            <a:r>
              <a:rPr lang="en-IN" sz="2700" b="1" dirty="0"/>
              <a:t>Focus Areas</a:t>
            </a:r>
          </a:p>
          <a:p>
            <a:r>
              <a:rPr lang="en-IN" sz="2700" dirty="0"/>
              <a:t>Audience Engagement Analysis </a:t>
            </a:r>
          </a:p>
          <a:p>
            <a:r>
              <a:rPr lang="en-IN" sz="2700" dirty="0"/>
              <a:t>Creator Growth Trends </a:t>
            </a:r>
          </a:p>
          <a:p>
            <a:r>
              <a:rPr lang="en-IN" sz="2700" dirty="0"/>
              <a:t>Geographic Distribution 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108E052-1BBC-6853-6896-470AABFF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9BC6-1FC6-D96C-7BCA-D5FAB1354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125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Segoe UI" panose="020B0502040204020203" pitchFamily="34" charset="0"/>
              </a:rPr>
              <a:t>The objective of this analysis is to examine global YouTube channel statistics and identify the key factors influencing channel growth, audience engagement, and monetization.</a:t>
            </a:r>
          </a:p>
          <a:p>
            <a:pPr marL="0" indent="0">
              <a:buNone/>
            </a:pPr>
            <a:endParaRPr lang="en-US" sz="2400" dirty="0"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400" dirty="0">
                <a:cs typeface="Segoe UI" panose="020B0502040204020203" pitchFamily="34" charset="0"/>
              </a:rPr>
              <a:t>This project aims to:</a:t>
            </a:r>
          </a:p>
          <a:p>
            <a:r>
              <a:rPr lang="en-US" sz="2400" dirty="0">
                <a:cs typeface="Segoe UI" panose="020B0502040204020203" pitchFamily="34" charset="0"/>
              </a:rPr>
              <a:t>Analyze subscriber and viewership patterns across channel categories </a:t>
            </a:r>
          </a:p>
          <a:p>
            <a:r>
              <a:rPr lang="en-US" sz="2400" dirty="0">
                <a:cs typeface="Segoe UI" panose="020B0502040204020203" pitchFamily="34" charset="0"/>
              </a:rPr>
              <a:t>Evaluate country-wise distribution of top YouTube creators </a:t>
            </a:r>
          </a:p>
          <a:p>
            <a:r>
              <a:rPr lang="en-US" sz="2400" dirty="0">
                <a:cs typeface="Segoe UI" panose="020B0502040204020203" pitchFamily="34" charset="0"/>
              </a:rPr>
              <a:t>Identify relationships between subscribers, uploads, views, and earnings </a:t>
            </a:r>
          </a:p>
          <a:p>
            <a:r>
              <a:rPr lang="en-US" sz="2400" dirty="0">
                <a:cs typeface="Segoe UI" panose="020B0502040204020203" pitchFamily="34" charset="0"/>
              </a:rPr>
              <a:t>Understand audience preference trends through visualization </a:t>
            </a:r>
          </a:p>
          <a:p>
            <a:r>
              <a:rPr lang="en-US" sz="2400" dirty="0">
                <a:cs typeface="Segoe UI" panose="020B0502040204020203" pitchFamily="34" charset="0"/>
              </a:rPr>
              <a:t>Generate data-driven insights from creator performance metrics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A0AC-E9D9-F3C2-C268-54B15999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7F595FEB-88E2-AA06-8078-FBF67D0DB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D6EEE34-7868-E4E3-5B1F-15DFD520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6CB2E9-C634-5DCA-1AA4-FF777E517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Variables Analyzed</a:t>
            </a:r>
          </a:p>
          <a:p>
            <a:r>
              <a:rPr lang="en-US" sz="2000" dirty="0">
                <a:cs typeface="Segoe UI" panose="020B0502040204020203" pitchFamily="34" charset="0"/>
              </a:rPr>
              <a:t>Subscribers </a:t>
            </a:r>
          </a:p>
          <a:p>
            <a:r>
              <a:rPr lang="en-US" sz="2000" dirty="0">
                <a:cs typeface="Segoe UI" panose="020B0502040204020203" pitchFamily="34" charset="0"/>
              </a:rPr>
              <a:t>Video Views </a:t>
            </a:r>
          </a:p>
          <a:p>
            <a:r>
              <a:rPr lang="en-US" sz="2000" dirty="0">
                <a:cs typeface="Segoe UI" panose="020B0502040204020203" pitchFamily="34" charset="0"/>
              </a:rPr>
              <a:t>Channel Category </a:t>
            </a:r>
          </a:p>
          <a:p>
            <a:r>
              <a:rPr lang="en-US" sz="2000" dirty="0">
                <a:cs typeface="Segoe UI" panose="020B0502040204020203" pitchFamily="34" charset="0"/>
              </a:rPr>
              <a:t>Country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5AF996-7A16-2E17-C2DE-6E54E630A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71629"/>
              </p:ext>
            </p:extLst>
          </p:nvPr>
        </p:nvGraphicFramePr>
        <p:xfrm>
          <a:off x="457200" y="1692276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75392517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45723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 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35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1006 YouTube Channels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83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29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81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CSV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440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Media &amp; 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206960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4ED9AD-A998-C6F5-CEA7-0F712AF8187C}"/>
              </a:ext>
            </a:extLst>
          </p:cNvPr>
          <p:cNvCxnSpPr>
            <a:cxnSpLocks/>
          </p:cNvCxnSpPr>
          <p:nvPr/>
        </p:nvCxnSpPr>
        <p:spPr>
          <a:xfrm>
            <a:off x="457200" y="1692276"/>
            <a:ext cx="8180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9C411C-B705-DDC8-094E-31F25AB514AF}"/>
              </a:ext>
            </a:extLst>
          </p:cNvPr>
          <p:cNvCxnSpPr/>
          <p:nvPr/>
        </p:nvCxnSpPr>
        <p:spPr>
          <a:xfrm>
            <a:off x="457200" y="1692276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36C3A3-0081-A02F-A908-16095C7A5E5B}"/>
              </a:ext>
            </a:extLst>
          </p:cNvPr>
          <p:cNvCxnSpPr>
            <a:cxnSpLocks/>
          </p:cNvCxnSpPr>
          <p:nvPr/>
        </p:nvCxnSpPr>
        <p:spPr>
          <a:xfrm>
            <a:off x="8638032" y="1692276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2CEC50-5D73-27E5-4962-34195291C1AA}"/>
              </a:ext>
            </a:extLst>
          </p:cNvPr>
          <p:cNvCxnSpPr/>
          <p:nvPr/>
        </p:nvCxnSpPr>
        <p:spPr>
          <a:xfrm>
            <a:off x="457200" y="3521076"/>
            <a:ext cx="8180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8B55BF-39A0-3DF6-125F-1C8001F6FFFB}"/>
              </a:ext>
            </a:extLst>
          </p:cNvPr>
          <p:cNvCxnSpPr/>
          <p:nvPr/>
        </p:nvCxnSpPr>
        <p:spPr>
          <a:xfrm>
            <a:off x="3327400" y="1692276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FD958D-183A-2F9D-4C82-F360714F7266}"/>
              </a:ext>
            </a:extLst>
          </p:cNvPr>
          <p:cNvCxnSpPr/>
          <p:nvPr/>
        </p:nvCxnSpPr>
        <p:spPr>
          <a:xfrm>
            <a:off x="457200" y="2035277"/>
            <a:ext cx="8180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904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1CF9-4F66-BDEF-0BAA-60B0D01B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A53B490A-E83E-00D3-0C5E-44BD4D652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85C0FF-DA85-2870-CCCC-6D080213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34052" cy="1143000"/>
          </a:xfrm>
        </p:spPr>
        <p:txBody>
          <a:bodyPr/>
          <a:lstStyle/>
          <a:p>
            <a:r>
              <a:rPr lang="en-IN" dirty="0"/>
              <a:t>Data Cleaning &amp;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281AF-19A8-9C9D-446B-53D152815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Cleaning Steps Performed</a:t>
            </a:r>
          </a:p>
          <a:p>
            <a:r>
              <a:rPr lang="en-US" sz="2000" dirty="0">
                <a:cs typeface="Segoe UI" panose="020B0502040204020203" pitchFamily="34" charset="0"/>
              </a:rPr>
              <a:t>Identified and handled missing values in: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Country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Category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Subscribers for last 30 days </a:t>
            </a:r>
          </a:p>
          <a:p>
            <a:pPr lvl="1"/>
            <a:r>
              <a:rPr lang="en-US" sz="2000" dirty="0">
                <a:cs typeface="Segoe UI" panose="020B0502040204020203" pitchFamily="34" charset="0"/>
              </a:rPr>
              <a:t>Video views for last 30 days </a:t>
            </a:r>
          </a:p>
          <a:p>
            <a:r>
              <a:rPr lang="en-US" sz="2000" dirty="0">
                <a:cs typeface="Segoe UI" panose="020B0502040204020203" pitchFamily="34" charset="0"/>
              </a:rPr>
              <a:t>Checked and removed duplicate records </a:t>
            </a:r>
          </a:p>
          <a:p>
            <a:r>
              <a:rPr lang="en-US" sz="2000" dirty="0">
                <a:cs typeface="Segoe UI" panose="020B0502040204020203" pitchFamily="34" charset="0"/>
              </a:rPr>
              <a:t>Verified data types and feature consistency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37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EC2B-FAAE-1220-DA6C-5E9361EF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3DF807F0-B286-EB54-E261-ABB19187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50F208D-5C6C-ABF2-BF15-197A4582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1BD7E-5CD8-27DA-E876-178D088BC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 of EDA</a:t>
            </a:r>
          </a:p>
          <a:p>
            <a:r>
              <a:rPr lang="en-US" sz="2400" dirty="0">
                <a:cs typeface="Segoe UI" panose="020B0502040204020203" pitchFamily="34" charset="0"/>
              </a:rPr>
              <a:t>To transform raw data into interpretable insights supporting creator economy analysis.</a:t>
            </a:r>
          </a:p>
          <a:p>
            <a:pPr marL="0" indent="0">
              <a:buNone/>
            </a:pPr>
            <a:endParaRPr lang="en-US" sz="2400" dirty="0"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Analytical Areas Explored</a:t>
            </a:r>
          </a:p>
          <a:p>
            <a:r>
              <a:rPr lang="en-US" sz="2400" dirty="0">
                <a:cs typeface="Segoe UI" panose="020B0502040204020203" pitchFamily="34" charset="0"/>
              </a:rPr>
              <a:t>Distribution of subscribers and video views across channels </a:t>
            </a:r>
          </a:p>
          <a:p>
            <a:r>
              <a:rPr lang="en-US" sz="2400" dirty="0">
                <a:cs typeface="Segoe UI" panose="020B0502040204020203" pitchFamily="34" charset="0"/>
              </a:rPr>
              <a:t>Country-wise concentration of leading YouTube creators </a:t>
            </a:r>
          </a:p>
          <a:p>
            <a:r>
              <a:rPr lang="en-US" sz="2400" dirty="0">
                <a:cs typeface="Segoe UI" panose="020B0502040204020203" pitchFamily="34" charset="0"/>
              </a:rPr>
              <a:t>Category-wise channel performance and audience reach </a:t>
            </a:r>
          </a:p>
          <a:p>
            <a:r>
              <a:rPr lang="en-US" sz="2400" dirty="0">
                <a:cs typeface="Segoe UI" panose="020B0502040204020203" pitchFamily="34" charset="0"/>
              </a:rPr>
              <a:t>Relationship between subscribers, video views, and earnings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793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1C7A-979A-B7E7-C844-B14953D5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588200BF-7D22-F7E3-DF69-4FC9B599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F3FE2C-4046-6A1B-475A-47FCECCE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Visualisations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4376A4-D524-FCB5-47FA-22FEF63D92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7"/>
            <a:ext cx="671119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Heatmap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200" dirty="0">
                <a:cs typeface="Segoe UI" panose="020B0502040204020203" pitchFamily="34" charset="0"/>
              </a:rPr>
              <a:t>Subscriber Dominance Among Top YouTube Channels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Subscribers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Video Views Relationship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Country-wise Analysis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Distribution of Channel Creation Periods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Recent Viewership by Channel Type </a:t>
            </a:r>
          </a:p>
        </p:txBody>
      </p:sp>
    </p:spTree>
    <p:extLst>
      <p:ext uri="{BB962C8B-B14F-4D97-AF65-F5344CB8AC3E}">
        <p14:creationId xmlns:p14="http://schemas.microsoft.com/office/powerpoint/2010/main" val="367985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7D90-4176-8F6C-18E8-1076CDED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94824858-1067-8ED5-74A0-458A24C1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46CD09B-3EC7-81F8-00FF-FFE4AC97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609" y="4533225"/>
            <a:ext cx="7512132" cy="566738"/>
          </a:xfrm>
        </p:spPr>
        <p:txBody>
          <a:bodyPr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Correlation Analysis of YouTube Metrics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1D62960-BD3D-501B-B5D1-EFCFF77887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5260" b="5260"/>
          <a:stretch>
            <a:fillRect/>
          </a:stretch>
        </p:blipFill>
        <p:spPr>
          <a:xfrm>
            <a:off x="1792288" y="566738"/>
            <a:ext cx="7512133" cy="41148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7B8CAAB-8098-9140-2F52-E64FDFDACCE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74128" y="5095448"/>
            <a:ext cx="100491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Video views show strong positive correlation with both subscriber count and channel earnings.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Video views in the last 30 days </a:t>
            </a:r>
            <a:r>
              <a:rPr lang="en-IN" sz="1800" dirty="0"/>
              <a:t>show a strong positive correlation (r ≈ 0.7) with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recent subscriber growth and earnings.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Upload count has relatively weak correlation with subscribers and video views. </a:t>
            </a:r>
          </a:p>
        </p:txBody>
      </p:sp>
    </p:spTree>
    <p:extLst>
      <p:ext uri="{BB962C8B-B14F-4D97-AF65-F5344CB8AC3E}">
        <p14:creationId xmlns:p14="http://schemas.microsoft.com/office/powerpoint/2010/main" val="271593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F880-0AB8-0823-37F5-F8FEA857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EE69070E-9792-0BEF-0321-87F0ED2A5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5CFD7F1-AB58-7409-DB90-6DC58EE9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305436"/>
            <a:ext cx="61722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Subscriber Dominance Among Top YouTube Channels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6AE9D-5B52-D53E-0F38-A869217C3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9639" y="1600200"/>
            <a:ext cx="5583455" cy="4525963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T-Series leads the ranking with approximately </a:t>
            </a:r>
            <a:r>
              <a:rPr lang="en-IN" sz="2000" b="1" dirty="0"/>
              <a:t>245 million subscribers</a:t>
            </a:r>
            <a:r>
              <a:rPr lang="en-IN" sz="2000" dirty="0"/>
              <a:t>, exceeding the second-ranked channel by nearly </a:t>
            </a:r>
            <a:r>
              <a:rPr lang="en-IN" sz="2000" b="1" dirty="0"/>
              <a:t>75 million subscribers</a:t>
            </a:r>
            <a:r>
              <a:rPr lang="en-IN" sz="2000" dirty="0"/>
              <a:t>.</a:t>
            </a:r>
          </a:p>
          <a:p>
            <a:r>
              <a:rPr lang="en-US" sz="2000" dirty="0">
                <a:cs typeface="Segoe UI" panose="020B0502040204020203" pitchFamily="34" charset="0"/>
              </a:rPr>
              <a:t>MrBeast ranks among major media brands, reflecting the strong influence of individual creators.</a:t>
            </a:r>
          </a:p>
          <a:p>
            <a:r>
              <a:rPr lang="en-US" sz="2000" dirty="0">
                <a:cs typeface="Segoe UI" panose="020B0502040204020203" pitchFamily="34" charset="0"/>
              </a:rPr>
              <a:t>Music and entertainment-based channels occupy a majority of the top positions, reflecting strong global demand for entertainment-focused content.</a:t>
            </a:r>
          </a:p>
          <a:p>
            <a:pPr marL="0" indent="0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</a:p>
          <a:p>
            <a:r>
              <a:rPr lang="en-US" sz="2000" dirty="0">
                <a:cs typeface="Segoe UI" panose="020B0502040204020203" pitchFamily="34" charset="0"/>
              </a:rPr>
              <a:t>The analysis highlights the dominance of entertainment-focused content in driving large-scale audience growth on YouTube.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5E0078-814A-8A67-EE73-45E3111397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25640" y="1753873"/>
            <a:ext cx="4434016" cy="38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3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2550-C5A8-8DF1-F8C6-4C984483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9DB7395E-55E2-0A24-913C-8CF77374A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32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6BBA6B1-EA48-CBD3-8BC7-39CC6DDF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84" y="273050"/>
            <a:ext cx="5186516" cy="11620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UI" panose="020B0502040204020203" pitchFamily="34" charset="0"/>
                <a:cs typeface="Segoe UI" panose="020B0502040204020203" pitchFamily="34" charset="0"/>
              </a:rPr>
              <a:t>Subscribers and Video Views Relationship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D8E55-F213-B4D0-D73E-91512DDB8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9484" y="1547049"/>
            <a:ext cx="4686399" cy="46910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positive relationship exists between subscriber count and total video views.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Channels with larger subscriber bases generally achieve higher viewership.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Several channels exceed </a:t>
            </a:r>
            <a:r>
              <a:rPr lang="en-IN" sz="2000" b="1" dirty="0"/>
              <a:t>100 billion total views</a:t>
            </a:r>
            <a:r>
              <a:rPr lang="en-IN" sz="2000" dirty="0"/>
              <a:t>, highlighting their exceptionally large audience reach.</a:t>
            </a:r>
          </a:p>
          <a:p>
            <a:r>
              <a:rPr lang="en-IN" sz="2000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Higher subscriber counts are generally associated with increased content visibility and audience engagement.</a:t>
            </a:r>
          </a:p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CC865BA-4C4F-9B6D-49A0-CE1928524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37914" y="1547049"/>
            <a:ext cx="5111750" cy="330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35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A561-D7E4-0294-5CE8-49A60F33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12BB1ECE-5D29-6ADD-8795-585C24BB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65712CE-D70E-CB1A-5674-209291EB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02574"/>
            <a:ext cx="5111750" cy="116205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Segoe UI" panose="020B0502040204020203" pitchFamily="34" charset="0"/>
                <a:cs typeface="Segoe UI" panose="020B0502040204020203" pitchFamily="34" charset="0"/>
              </a:rPr>
              <a:t>Country-wise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B5521-40B8-7534-437B-FB479110D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1526" y="1081548"/>
            <a:ext cx="4992366" cy="5034783"/>
          </a:xfrm>
        </p:spPr>
        <p:txBody>
          <a:bodyPr>
            <a:normAutofit fontScale="85000" lnSpcReduction="20000"/>
          </a:bodyPr>
          <a:lstStyle/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Segoe UI" panose="020B0502040204020203" pitchFamily="34" charset="0"/>
              </a:rPr>
              <a:t>The United States contributes the highest number of YouTube channels.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Segoe UI" panose="020B0502040204020203" pitchFamily="34" charset="0"/>
              </a:rPr>
              <a:t>India comes in second with around 170 channels, showing it’s become a major hub for content creators.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Segoe UI" panose="020B0502040204020203" pitchFamily="34" charset="0"/>
              </a:rPr>
              <a:t>After that, things drop off fast, Brazil, UK, Mexico each have somewhere between 40-60 channels and the rest of the list trails even further behind with channel counts under 30.</a:t>
            </a:r>
          </a:p>
          <a:p>
            <a:endParaRPr lang="en-US" sz="2200" dirty="0">
              <a:cs typeface="Segoe UI" panose="020B0502040204020203" pitchFamily="34" charset="0"/>
            </a:endParaRPr>
          </a:p>
          <a:p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Segoe UI" panose="020B0502040204020203" pitchFamily="34" charset="0"/>
              </a:rPr>
              <a:t>Regional internet penetration, population scale, and digital consumption patterns significantly influence creator ecosystem development.</a:t>
            </a:r>
          </a:p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F663227-3BBF-6CB6-02FC-AB75ECEC3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92571" y="1578610"/>
            <a:ext cx="4827903" cy="370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3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9204F-0D24-C44B-8ADF-B2EB0309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4E56A648-DEEC-86CF-8AAA-AF9AAC41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016F711-C188-C780-101F-532F867C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176" y="273050"/>
            <a:ext cx="5058698" cy="11620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UI" panose="020B0502040204020203" pitchFamily="34" charset="0"/>
                <a:cs typeface="Segoe UI" panose="020B0502040204020203" pitchFamily="34" charset="0"/>
              </a:rPr>
              <a:t>Distribution of Channel Creation Periods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AB1468-0BF1-C1AC-6D78-78EAD322B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76103" y="1161111"/>
            <a:ext cx="4812890" cy="453577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1A873-FA50-BAD3-8893-03D0F6649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176" y="1579479"/>
            <a:ext cx="5058698" cy="46910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More than </a:t>
            </a:r>
            <a:r>
              <a:rPr lang="en-IN" sz="2000" b="1" dirty="0"/>
              <a:t>94.2%</a:t>
            </a:r>
            <a:r>
              <a:rPr lang="en-IN" sz="2000" dirty="0"/>
              <a:t> of leading channels were established before 2019.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Only a small proportion of top channels were created after 2019.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distribution suggests that many successful creators have built their audiences over an extended period. </a:t>
            </a:r>
          </a:p>
          <a:p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analysis indicates that sustained platform presence and long-term audience building are common characteristics of the most successful YouTube channels.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34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558F-231F-ADF5-1995-ED1C9402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A5DC28E4-C923-2320-2B70-F680773E5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12848"/>
            <a:ext cx="12191695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69F8E288-5EED-B2E7-984A-8EE8C7C0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1" y="273050"/>
            <a:ext cx="4261259" cy="11620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UI" panose="020B0502040204020203" pitchFamily="34" charset="0"/>
                <a:cs typeface="Segoe UI" panose="020B0502040204020203" pitchFamily="34" charset="0"/>
              </a:rPr>
              <a:t>Recent Viewership by Channel Type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6D1FA40-041D-E0D1-8C24-89104EBD1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0491" y="1665806"/>
            <a:ext cx="4261259" cy="4691063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Entertainment channels generated approximately </a:t>
            </a:r>
            <a:r>
              <a:rPr lang="en-IN" sz="2600" b="1" dirty="0"/>
              <a:t>64 billion views in the last 30 days</a:t>
            </a:r>
            <a:r>
              <a:rPr lang="en-IN" sz="2600" dirty="0"/>
              <a:t>, nearly twice that of Music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Music channels generated approximately </a:t>
            </a:r>
            <a:r>
              <a:rPr lang="en-IN" sz="2800" b="1" dirty="0"/>
              <a:t>38 billion recent views</a:t>
            </a:r>
            <a:r>
              <a:rPr lang="en-IN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Audience attention is concentrated within a few content categories, with a sharp decline beyond the top performers.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Technology, automotive, and nonprofit channels record the lowest recent viewership levels. </a:t>
            </a:r>
          </a:p>
          <a:p>
            <a:r>
              <a:rPr lang="en-IN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  <a:endParaRPr lang="en-IN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Recent engagement patterns indicate a strong audience preference for entertainment-focused content on YouTube.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7BDEA2-0FDF-C771-85E0-2B1B21B3A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00799" y="1665807"/>
            <a:ext cx="4940709" cy="327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0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6751C-E40D-FA1E-7FCB-64858EDC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ABC4B466-9B0F-EBD6-AB1F-23C14FC7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6CFB13-4E28-7834-754E-B11E4C1C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Major Findings from the Analysis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BC19CB-1D56-4EF7-DB2E-C14673BE9F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690062"/>
            <a:ext cx="928536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Entertainment and music channels dominate global audience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Subscriber growth strongly influences monetization capability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Audience reach demonstrates stronger impact than upload frequency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United States and India lead the creator ecosystem globally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High-engagement content significantly improves visibility and platform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21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DF8AF-1A88-B5EC-71DE-5E60F7DA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18AB61ED-2775-C805-EC51-FC3EA2F73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FAC84F2-95DD-A374-6422-2D5A144E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Business Recommendations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EC00F-EEA8-4A7B-8AE6-3960E603D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5180"/>
            <a:ext cx="988995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Recommendations for Content Creators</a:t>
            </a:r>
          </a:p>
          <a:p>
            <a:r>
              <a:rPr lang="en-IN" sz="2200" b="1" dirty="0"/>
              <a:t>Optimize for view-through, not output volume.</a:t>
            </a:r>
            <a:r>
              <a:rPr lang="en-IN" sz="2200" dirty="0"/>
              <a:t> Since uploads barely correlate with subscriber or view growth (slide 8), creators and brands should shift budget from "post more" to "make each post retain longer" — e.g., better hooks, pacing, thumbnails.</a:t>
            </a:r>
          </a:p>
          <a:p>
            <a:r>
              <a:rPr lang="en-IN" sz="2200" b="1" dirty="0"/>
              <a:t>Weight category strategy toward entertainment-adjacent formats.</a:t>
            </a:r>
            <a:r>
              <a:rPr lang="en-IN" sz="2200" dirty="0"/>
              <a:t> Entertainment videos pulled ~64B recent views versus music's ~38B (slide 13) — categories outside these two (tech, automotive, nonprofit) see materially lower reach, so niche categories should focus on cross-pollinating with entertainment style rather than competing head-on for volume.</a:t>
            </a:r>
            <a:r>
              <a:rPr lang="en-US" sz="2200" dirty="0"/>
              <a:t>Focus on highly engaging content categories with strong audience retention.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57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A8B1-F39E-77F5-7156-757578DF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C8031F11-1BAD-5866-BA8D-4DE7CBEEE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DEB88-A133-D9A8-AC53-2D7C7AF6F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8780"/>
            <a:ext cx="8229600" cy="50673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Data Analytics Skills</a:t>
            </a:r>
          </a:p>
          <a:p>
            <a:r>
              <a:rPr lang="en-IN" sz="2600" dirty="0"/>
              <a:t>Data Cleaning &amp; Preprocessing </a:t>
            </a:r>
          </a:p>
          <a:p>
            <a:r>
              <a:rPr lang="en-IN" sz="2600" dirty="0"/>
              <a:t>Exploratory Data Analysis </a:t>
            </a:r>
          </a:p>
          <a:p>
            <a:r>
              <a:rPr lang="en-IN" sz="2600" dirty="0"/>
              <a:t>Statistical Interpretation </a:t>
            </a:r>
          </a:p>
          <a:p>
            <a:r>
              <a:rPr lang="en-IN" sz="2600" dirty="0"/>
              <a:t>Correlation Analysis </a:t>
            </a:r>
          </a:p>
          <a:p>
            <a:r>
              <a:rPr lang="en-IN" sz="2600" dirty="0"/>
              <a:t>Data Visualization </a:t>
            </a:r>
          </a:p>
          <a:p>
            <a:r>
              <a:rPr lang="en-IN" sz="2600" dirty="0"/>
              <a:t>Insight Generation 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Python Libraries Utilized</a:t>
            </a:r>
          </a:p>
          <a:p>
            <a:r>
              <a:rPr lang="en-IN" sz="2600" dirty="0"/>
              <a:t>Pandas </a:t>
            </a:r>
          </a:p>
          <a:p>
            <a:r>
              <a:rPr lang="en-IN" sz="2600" dirty="0"/>
              <a:t>NumPy </a:t>
            </a:r>
          </a:p>
          <a:p>
            <a:r>
              <a:rPr lang="en-IN" sz="2600" dirty="0"/>
              <a:t>Matplotlib </a:t>
            </a:r>
          </a:p>
          <a:p>
            <a:r>
              <a:rPr lang="en-IN" sz="2600" dirty="0"/>
              <a:t>Seaborn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686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D819-F6F9-F478-CE4D-9B91EC84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inimalist_abstract_background_slide_desi.png">
            <a:extLst>
              <a:ext uri="{FF2B5EF4-FFF2-40B4-BE49-F238E27FC236}">
                <a16:creationId xmlns:a16="http://schemas.microsoft.com/office/drawing/2014/main" id="{2D66031B-B3B2-C836-DBEB-F41DB816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97775FA-19E4-8F54-9C45-C4DD1C70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34EC0-0F99-EF3B-FF95-8CB4C150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985787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This analysis successfully identified major trends within the global YouTube creator ecosystem through data-driven exploration and visualization.</a:t>
            </a:r>
          </a:p>
          <a:p>
            <a:pPr marL="0" indent="0">
              <a:buNone/>
            </a:pPr>
            <a:r>
              <a:rPr lang="en-US" sz="2200" dirty="0"/>
              <a:t>The project highlighted:</a:t>
            </a:r>
          </a:p>
          <a:p>
            <a:r>
              <a:rPr lang="en-US" sz="2200" dirty="0"/>
              <a:t>audience engagement dynamics </a:t>
            </a:r>
          </a:p>
          <a:p>
            <a:r>
              <a:rPr lang="en-US" sz="2200" dirty="0"/>
              <a:t>creator growth patterns </a:t>
            </a:r>
          </a:p>
          <a:p>
            <a:r>
              <a:rPr lang="en-US" sz="2200" dirty="0"/>
              <a:t>category-based performance trends </a:t>
            </a:r>
          </a:p>
          <a:p>
            <a:r>
              <a:rPr lang="en-IN" sz="2200" dirty="0"/>
              <a:t>long-term channel growth characteristics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 findings demonstrate how analytical techniques can be used to extract meaningful insights from large-scale digital platform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2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923</Words>
  <Application>Microsoft Office PowerPoint</Application>
  <PresentationFormat>Widescreen</PresentationFormat>
  <Paragraphs>143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Segoe UI</vt:lpstr>
      <vt:lpstr>Segoe UI Semibold</vt:lpstr>
      <vt:lpstr>Office Theme</vt:lpstr>
      <vt:lpstr>Global YouTube Trend Analysis</vt:lpstr>
      <vt:lpstr>PowerPoint Presentation</vt:lpstr>
      <vt:lpstr>Project Objective</vt:lpstr>
      <vt:lpstr>Dataset Overview</vt:lpstr>
      <vt:lpstr>Data Cleaning &amp; Preprocessing</vt:lpstr>
      <vt:lpstr>Exploratory Data Analysis</vt:lpstr>
      <vt:lpstr>Data Visualisations</vt:lpstr>
      <vt:lpstr>Correlation Analysis of YouTube Metrics</vt:lpstr>
      <vt:lpstr>Subscriber Dominance Among Top YouTube Channels</vt:lpstr>
      <vt:lpstr>Subscribers and Video Views Relationship</vt:lpstr>
      <vt:lpstr>Country-wise Analysis</vt:lpstr>
      <vt:lpstr>Distribution of Channel Creation Periods</vt:lpstr>
      <vt:lpstr>Recent Viewership by Channel Type</vt:lpstr>
      <vt:lpstr>Major Findings from the Analysis</vt:lpstr>
      <vt:lpstr>Business Recommendations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Muskan Verma</cp:lastModifiedBy>
  <cp:revision>17</cp:revision>
  <dcterms:created xsi:type="dcterms:W3CDTF">2013-01-27T09:14:16Z</dcterms:created>
  <dcterms:modified xsi:type="dcterms:W3CDTF">2026-07-21T18:07:40Z</dcterms:modified>
  <cp:category/>
</cp:coreProperties>
</file>